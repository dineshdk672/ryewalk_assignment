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4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3620" y="2602865"/>
            <a:ext cx="10144760" cy="1651635"/>
          </a:xfrm>
        </p:spPr>
        <p:txBody>
          <a:bodyPr>
            <a:normAutofit fontScale="90000"/>
          </a:bodyPr>
          <a:p>
            <a:pPr algn="ctr"/>
            <a:r>
              <a:rPr lang="en-US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</a:rPr>
              <a:t>Predictive Model on SBA 7(a) Loan data FY 2014-2019</a:t>
            </a:r>
            <a:endParaRPr lang="en-US" b="1">
              <a:solidFill>
                <a:schemeClr val="tx1"/>
              </a:solidFill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654685"/>
          </a:xfrm>
        </p:spPr>
        <p:txBody>
          <a:bodyPr/>
          <a:p>
            <a:r>
              <a:rPr lang="en-US" i="1">
                <a:latin typeface="Arial Italic" panose="020B0704020202020204" charset="0"/>
                <a:cs typeface="Arial Italic" panose="020B0704020202020204" charset="0"/>
              </a:rPr>
              <a:t>- Dinesh Kumar Thirunavukkarasu</a:t>
            </a:r>
            <a:endParaRPr lang="en-US" i="1">
              <a:latin typeface="Arial Italic" panose="020B0704020202020204" charset="0"/>
              <a:cs typeface="Arial Italic" panose="020B07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Problem Summary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965" y="1825625"/>
            <a:ext cx="11274425" cy="4167505"/>
          </a:xfrm>
        </p:spPr>
        <p:txBody>
          <a:bodyPr>
            <a:normAutofit fontScale="90000"/>
          </a:bodyPr>
          <a:p>
            <a:pPr lvl="0" algn="l" fontAlgn="auto">
              <a:spcAft>
                <a:spcPts val="600"/>
              </a:spcAft>
            </a:pPr>
            <a:r>
              <a:rPr lang="en-US" sz="3110">
                <a:latin typeface="Arial Regular" panose="020B0704020202020204" charset="0"/>
                <a:cs typeface="Arial Regular" panose="020B0704020202020204" charset="0"/>
              </a:rPr>
              <a:t>The business problem addressed here is to identify loans with high probability of default and assess underlying risks using historical data</a:t>
            </a:r>
            <a:endParaRPr lang="en-US" sz="3110">
              <a:latin typeface="Arial Regular" panose="020B0704020202020204" charset="0"/>
              <a:cs typeface="Arial Regular" panose="020B0704020202020204" charset="0"/>
            </a:endParaRPr>
          </a:p>
          <a:p>
            <a:pPr lvl="0" algn="l" fontAlgn="auto">
              <a:spcAft>
                <a:spcPts val="600"/>
              </a:spcAft>
            </a:pPr>
            <a:endParaRPr lang="en-US" sz="3110">
              <a:latin typeface="Arial Regular" panose="020B0704020202020204" charset="0"/>
              <a:cs typeface="Arial Regular" panose="020B0704020202020204" charset="0"/>
            </a:endParaRPr>
          </a:p>
          <a:p>
            <a:pPr lvl="0" algn="l" fontAlgn="auto">
              <a:spcAft>
                <a:spcPts val="600"/>
              </a:spcAft>
            </a:pPr>
            <a:r>
              <a:rPr lang="en-US" sz="3110">
                <a:latin typeface="Arial" panose="020B0704020202020204" pitchFamily="34" charset="0"/>
                <a:cs typeface="Arial" panose="020B0704020202020204" pitchFamily="34" charset="0"/>
              </a:rPr>
              <a:t>We arrive at a data driven solution using the below given steps:</a:t>
            </a:r>
            <a:endParaRPr lang="en-US" sz="311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 fontAlgn="auto">
              <a:spcAft>
                <a:spcPts val="600"/>
              </a:spcAft>
            </a:pPr>
            <a:r>
              <a:rPr lang="en-US" sz="2665" b="1">
                <a:latin typeface="Arial Bold" panose="020B0704020202020204" charset="0"/>
                <a:cs typeface="Arial Bold" panose="020B0704020202020204" charset="0"/>
              </a:rPr>
              <a:t>Exploratory Data Analysis (EDA)</a:t>
            </a:r>
            <a:endParaRPr lang="en-US" sz="2665" b="1">
              <a:latin typeface="Arial Bold" panose="020B0704020202020204" charset="0"/>
              <a:cs typeface="Arial Bold" panose="020B0704020202020204" charset="0"/>
            </a:endParaRPr>
          </a:p>
          <a:p>
            <a:pPr lvl="1" algn="l" fontAlgn="auto">
              <a:spcAft>
                <a:spcPts val="600"/>
              </a:spcAft>
            </a:pPr>
            <a:r>
              <a:rPr lang="en-US" sz="2665" b="1">
                <a:latin typeface="Arial Bold" panose="020B0704020202020204" charset="0"/>
                <a:cs typeface="Arial Bold" panose="020B0704020202020204" charset="0"/>
              </a:rPr>
              <a:t>Data Wrangling and Feature Selection</a:t>
            </a:r>
            <a:endParaRPr lang="en-US" sz="2665" b="1">
              <a:latin typeface="Arial Bold" panose="020B0704020202020204" charset="0"/>
              <a:cs typeface="Arial Bold" panose="020B0704020202020204" charset="0"/>
            </a:endParaRPr>
          </a:p>
          <a:p>
            <a:pPr lvl="1" algn="l" fontAlgn="auto">
              <a:spcAft>
                <a:spcPts val="600"/>
              </a:spcAft>
            </a:pPr>
            <a:r>
              <a:rPr lang="en-US" sz="2665" b="1">
                <a:latin typeface="Arial Bold" panose="020B0704020202020204" charset="0"/>
                <a:cs typeface="Arial Bold" panose="020B0704020202020204" charset="0"/>
              </a:rPr>
              <a:t>Model building and Evaluation</a:t>
            </a:r>
            <a:endParaRPr lang="en-US">
              <a:latin typeface="Arial Regular" panose="020B0704020202020204" charset="0"/>
              <a:cs typeface="Arial Regular" panose="020B07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Key Insights from Data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6465"/>
            <a:ext cx="10515600" cy="2464435"/>
          </a:xfrm>
        </p:spPr>
        <p:txBody>
          <a:bodyPr/>
          <a:p>
            <a:pPr marL="0" indent="0"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Dataset Summary: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en-US" altLang="en-US" sz="2400">
                <a:latin typeface="Arial" panose="020B0704020202020204" pitchFamily="34" charset="0"/>
                <a:cs typeface="Arial" panose="020B0704020202020204" pitchFamily="34" charset="0"/>
              </a:rPr>
              <a:t>Initially the dataset has 354270 rows and 43 columns</a:t>
            </a:r>
            <a:endParaRPr lang="en-US" alt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en-US" altLang="en-US" sz="2400">
                <a:latin typeface="Arial" panose="020B0704020202020204" pitchFamily="34" charset="0"/>
                <a:cs typeface="Arial" panose="020B0704020202020204" pitchFamily="34" charset="0"/>
              </a:rPr>
              <a:t>4 columns has incorrect values</a:t>
            </a:r>
            <a:endParaRPr lang="en-US" alt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en-US" altLang="en-US" sz="2400">
                <a:latin typeface="Arial" panose="020B0704020202020204" pitchFamily="34" charset="0"/>
                <a:cs typeface="Arial" panose="020B0704020202020204" pitchFamily="34" charset="0"/>
              </a:rPr>
              <a:t>4 columns has more than 50% null values</a:t>
            </a:r>
            <a:endParaRPr lang="en-US" alt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en-US" altLang="en-US" sz="2400">
                <a:latin typeface="Arial" panose="020B0704020202020204" pitchFamily="34" charset="0"/>
                <a:cs typeface="Arial" panose="020B0704020202020204" pitchFamily="34" charset="0"/>
              </a:rPr>
              <a:t>The dataset has 424 duplicate rows </a:t>
            </a:r>
            <a:endParaRPr lang="en-US" alt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endParaRPr lang="en-US" altLang="en-US" sz="24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65" y="273685"/>
            <a:ext cx="11722100" cy="6437630"/>
          </a:xfrm>
        </p:spPr>
        <p:txBody>
          <a:bodyPr/>
          <a:p>
            <a:pPr marL="0" indent="0"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>
                <a:latin typeface="Arial Bold" panose="020B0704020202020204" charset="0"/>
                <a:cs typeface="Arial Bold" panose="020B0704020202020204" charset="0"/>
              </a:rPr>
              <a:t>Approved Loan Amount Distribution</a:t>
            </a:r>
            <a:endParaRPr lang="en-US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The loans approved varies from $1000 - $5M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Most loans were below $200,000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The cummulative amount approved in 2014-2019 was ~$140.66B 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893445"/>
            <a:ext cx="5686425" cy="433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540" y="893445"/>
            <a:ext cx="5610225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0" y="262255"/>
            <a:ext cx="11182350" cy="6374765"/>
          </a:xfrm>
        </p:spPr>
        <p:txBody>
          <a:bodyPr/>
          <a:p>
            <a:pPr marL="0" indent="0" algn="ctr">
              <a:lnSpc>
                <a:spcPct val="90000"/>
              </a:lnSpc>
              <a:spcAft>
                <a:spcPts val="1000"/>
              </a:spcAft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Defaulted Amount Distribution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l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Gross defaulted amount varies from $11 - ~ $4.7M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A large number of defaults were below $200,000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Total Default amount in 2014-2019 was ~$3.28B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1050925"/>
            <a:ext cx="5406390" cy="4176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55" y="1050925"/>
            <a:ext cx="5405755" cy="4211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990" y="376555"/>
            <a:ext cx="11359515" cy="6052185"/>
          </a:xfrm>
        </p:spPr>
        <p:txBody>
          <a:bodyPr/>
          <a:p>
            <a:pPr marL="0" indent="0" algn="ctr"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Customer Types and Interest Types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Major customers were Corporations with over 300,000 loans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Over 75% loans were given on Variable Interests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90" y="1181100"/>
            <a:ext cx="5347970" cy="40760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425" y="1181100"/>
            <a:ext cx="5593080" cy="4075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90" y="307340"/>
            <a:ext cx="11400790" cy="6122670"/>
          </a:xfrm>
        </p:spPr>
        <p:txBody>
          <a:bodyPr>
            <a:normAutofit fontScale="90000" lnSpcReduction="20000"/>
          </a:bodyPr>
          <a:p>
            <a:pPr marL="0" indent="0" algn="ctr">
              <a:lnSpc>
                <a:spcPct val="80000"/>
              </a:lnSpc>
              <a:spcAft>
                <a:spcPts val="1000"/>
              </a:spcAft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Lender and Customer Demographics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22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en-US" sz="222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sz="2220">
                <a:latin typeface="Arial Regular" panose="020B0704020202020204" charset="0"/>
                <a:cs typeface="Arial Regular" panose="020B0704020202020204" charset="0"/>
              </a:rPr>
              <a:t>Banks in </a:t>
            </a:r>
            <a:r>
              <a:rPr lang="en-US" sz="2220" b="1">
                <a:latin typeface="Arial Regular" panose="020B0704020202020204" charset="0"/>
                <a:cs typeface="Arial Regular" panose="020B0704020202020204" charset="0"/>
              </a:rPr>
              <a:t>Ohio</a:t>
            </a:r>
            <a:r>
              <a:rPr lang="en-US" sz="2220">
                <a:latin typeface="Arial Regular" panose="020B0704020202020204" charset="0"/>
                <a:cs typeface="Arial Regular" panose="020B0704020202020204" charset="0"/>
              </a:rPr>
              <a:t> gave out the most number of loans with counts over 70,000</a:t>
            </a:r>
            <a:endParaRPr lang="en-US" sz="222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en-US" sz="2220">
                <a:latin typeface="Arial Regular" panose="020B0704020202020204" charset="0"/>
                <a:cs typeface="Arial Regular" panose="020B0704020202020204" charset="0"/>
              </a:rPr>
              <a:t>Projects based off </a:t>
            </a:r>
            <a:r>
              <a:rPr lang="en-US" sz="2220" b="1">
                <a:latin typeface="Arial Regular" panose="020B0704020202020204" charset="0"/>
                <a:cs typeface="Arial Regular" panose="020B0704020202020204" charset="0"/>
              </a:rPr>
              <a:t>California</a:t>
            </a:r>
            <a:r>
              <a:rPr lang="en-US" sz="2220">
                <a:latin typeface="Arial Regular" panose="020B0704020202020204" charset="0"/>
                <a:cs typeface="Arial Regular" panose="020B0704020202020204" charset="0"/>
              </a:rPr>
              <a:t> has borrowed over </a:t>
            </a:r>
            <a:r>
              <a:rPr lang="en-US" sz="2220">
                <a:latin typeface="Arial Regular" panose="020B0704020202020204" charset="0"/>
                <a:cs typeface="Arial Regular" panose="020B0704020202020204" charset="0"/>
                <a:sym typeface="+mn-ea"/>
              </a:rPr>
              <a:t>45,000 loans</a:t>
            </a:r>
            <a:r>
              <a:rPr lang="en-US" sz="2220">
                <a:latin typeface="Arial Regular" panose="020B0704020202020204" charset="0"/>
                <a:cs typeface="Arial Regular" panose="020B0704020202020204" charset="0"/>
              </a:rPr>
              <a:t> making CA the largest customer base</a:t>
            </a:r>
            <a:endParaRPr lang="en-US" sz="222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850265"/>
            <a:ext cx="8267700" cy="4515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228600"/>
            <a:ext cx="11285855" cy="6347460"/>
          </a:xfrm>
        </p:spPr>
        <p:txBody>
          <a:bodyPr/>
          <a:p>
            <a:pPr marL="0" indent="0" algn="ctr">
              <a:lnSpc>
                <a:spcPct val="90000"/>
              </a:lnSpc>
              <a:spcAft>
                <a:spcPts val="1000"/>
              </a:spcAft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Loan Approval Frequency 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The trend shows rise in loan approvals in Q1 and Q2 and a fall in numbers during Q4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The highest number of loans approved were in 2015 Q3 and an overall decrease since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ctr">
              <a:buNone/>
            </a:pP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95" y="741680"/>
            <a:ext cx="10210165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60" y="330200"/>
            <a:ext cx="11355070" cy="6122670"/>
          </a:xfrm>
        </p:spPr>
        <p:txBody>
          <a:bodyPr/>
          <a:p>
            <a:pPr marL="0" indent="0" algn="ctr">
              <a:lnSpc>
                <a:spcPct val="90000"/>
              </a:lnSpc>
              <a:spcAft>
                <a:spcPts val="1000"/>
              </a:spcAft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Average Amount approved over Time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In 2014 and 2015 higher values were approved in Q3, but from 2016 - 2019 higher value loans were approved in Q4 with an overall increase in value over time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This trend in relative to loan approval frequency shows </a:t>
            </a:r>
            <a:r>
              <a:rPr lang="en-US" sz="2000" b="1">
                <a:latin typeface="Arial Bold" panose="020B0704020202020204" charset="0"/>
                <a:cs typeface="Arial Bold" panose="020B0704020202020204" charset="0"/>
              </a:rPr>
              <a:t>inverse relationship </a:t>
            </a:r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between loan value and number of loans approved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70" y="765175"/>
            <a:ext cx="10436860" cy="421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35" y="250190"/>
            <a:ext cx="11285855" cy="6261100"/>
          </a:xfrm>
        </p:spPr>
        <p:txBody>
          <a:bodyPr>
            <a:normAutofit fontScale="70000"/>
          </a:bodyPr>
          <a:p>
            <a:pPr marL="0" indent="0" algn="ctr">
              <a:lnSpc>
                <a:spcPct val="70000"/>
              </a:lnSpc>
              <a:spcAft>
                <a:spcPts val="1000"/>
              </a:spcAft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SBA Guarantee Percentage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marL="0" indent="0" algn="ctr">
              <a:buNone/>
            </a:pP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22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855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The SBA Guarantee percentage increases during Q3 and reaches the lowest at Q2.</a:t>
            </a:r>
            <a:endParaRPr lang="en-US" sz="2855">
              <a:solidFill>
                <a:schemeClr val="tx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855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There is an overall increase in SBA Guarantee percentage over time with an all time highest at ~66% at 2018 Q4</a:t>
            </a:r>
            <a:endParaRPr lang="en-US" sz="2855">
              <a:solidFill>
                <a:schemeClr val="tx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65" y="584835"/>
            <a:ext cx="9410065" cy="4665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255" y="227330"/>
            <a:ext cx="11367135" cy="6431915"/>
          </a:xfrm>
        </p:spPr>
        <p:txBody>
          <a:bodyPr>
            <a:normAutofit lnSpcReduction="10000"/>
          </a:bodyPr>
          <a:p>
            <a:pPr marL="0" indent="0" algn="ctr">
              <a:buNone/>
            </a:pPr>
            <a:r>
              <a:rPr lang="en-US" sz="2400" b="1">
                <a:latin typeface="Arial Bold" panose="020B0704020202020204" charset="0"/>
                <a:cs typeface="Arial Bold" panose="020B0704020202020204" charset="0"/>
                <a:sym typeface="+mn-ea"/>
              </a:rPr>
              <a:t>Demographic Trends</a:t>
            </a:r>
            <a:endParaRPr lang="en-US" sz="2400" b="1">
              <a:latin typeface="Arial Bold" panose="020B0704020202020204" charset="0"/>
              <a:cs typeface="Arial Bold" panose="020B070402020202020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Initial Interest Rates: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/>
            <a:r>
              <a:rPr lang="en-US" sz="18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Kentucky, New Hampshire and West virginia  - &lt;5.75%</a:t>
            </a:r>
            <a:endParaRPr lang="en-US" sz="18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/>
            <a:r>
              <a:rPr lang="en-US" sz="18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Most banks have interest rates around 5.75% - 6.75%</a:t>
            </a:r>
            <a:endParaRPr lang="en-US" sz="18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/>
            <a:r>
              <a:rPr lang="en-US" sz="18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New Mexico, South Dakota and Delaware  - 7% - 8.25%</a:t>
            </a:r>
            <a:endParaRPr lang="en-US" sz="18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/>
            <a:r>
              <a:rPr lang="en-US" sz="18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Delaware as highest and Kentucky lowest </a:t>
            </a:r>
            <a:endParaRPr lang="en-US" sz="18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endParaRPr lang="en-US" sz="1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415" y="646430"/>
            <a:ext cx="10076815" cy="431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385" y="1080770"/>
            <a:ext cx="11377295" cy="4696460"/>
          </a:xfrm>
        </p:spPr>
        <p:txBody>
          <a:bodyPr>
            <a:normAutofit lnSpcReduction="10000"/>
          </a:bodyPr>
          <a:p>
            <a:pPr marL="0" indent="0" algn="ctr">
              <a:lnSpc>
                <a:spcPct val="80000"/>
              </a:lnSpc>
              <a:spcAft>
                <a:spcPts val="2000"/>
              </a:spcAft>
              <a:buNone/>
            </a:pPr>
            <a:r>
              <a:rPr lang="en-US" sz="3200" b="1">
                <a:latin typeface="Arial Bold" panose="020B0704020202020204" charset="0"/>
                <a:cs typeface="Arial Bold" panose="020B0704020202020204" charset="0"/>
              </a:rPr>
              <a:t>Other Trends Observed</a:t>
            </a:r>
            <a:endParaRPr lang="en-US" sz="3200" b="1">
              <a:latin typeface="Arial Bold" panose="020B0704020202020204" charset="0"/>
              <a:cs typeface="Arial Bold" panose="020B070402020202020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>
                <a:latin typeface="Arial Bold" panose="020B0704020202020204" charset="0"/>
                <a:cs typeface="Arial Bold" panose="020B0704020202020204" charset="0"/>
              </a:rPr>
              <a:t>Initial Interest Rates</a:t>
            </a:r>
            <a:r>
              <a:rPr lang="en-US" sz="2400">
                <a:latin typeface="Arial" panose="020B0704020202020204" pitchFamily="34" charset="0"/>
                <a:cs typeface="Arial" panose="020B0704020202020204" pitchFamily="34" charset="0"/>
              </a:rPr>
              <a:t> saw a </a:t>
            </a:r>
            <a:r>
              <a:rPr lang="en-US" sz="2400" b="1">
                <a:latin typeface="Arial Bold" panose="020B0704020202020204" charset="0"/>
                <a:cs typeface="Arial Bold" panose="020B0704020202020204" charset="0"/>
              </a:rPr>
              <a:t>steady increase</a:t>
            </a:r>
            <a:r>
              <a:rPr lang="en-US" sz="2400">
                <a:latin typeface="Arial" panose="020B0704020202020204" pitchFamily="34" charset="0"/>
                <a:cs typeface="Arial" panose="020B0704020202020204" pitchFamily="34" charset="0"/>
              </a:rPr>
              <a:t> until 2016 and has risen sharply since 2017 Q1 with an all time high in 2019 Q2 at ~8%</a:t>
            </a:r>
            <a:endParaRPr 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>
                <a:latin typeface="Arial" panose="020B0704020202020204" pitchFamily="34" charset="0"/>
                <a:cs typeface="Arial" panose="020B0704020202020204" pitchFamily="34" charset="0"/>
              </a:rPr>
              <a:t>Partnership business borrowed </a:t>
            </a:r>
            <a:r>
              <a:rPr lang="en-US" sz="2400" b="1">
                <a:latin typeface="Arial Bold" panose="020B0704020202020204" charset="0"/>
                <a:cs typeface="Arial Bold" panose="020B0704020202020204" charset="0"/>
              </a:rPr>
              <a:t>higher value loans,</a:t>
            </a:r>
            <a:r>
              <a:rPr lang="en-US" sz="2400">
                <a:latin typeface="Arial" panose="020B0704020202020204" pitchFamily="34" charset="0"/>
                <a:cs typeface="Arial" panose="020B0704020202020204" pitchFamily="34" charset="0"/>
              </a:rPr>
              <a:t> with Corporation and Individual following it. </a:t>
            </a:r>
            <a:endParaRPr 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>
                <a:latin typeface="Arial" panose="020B0704020202020204" pitchFamily="34" charset="0"/>
                <a:cs typeface="Arial" panose="020B0704020202020204" pitchFamily="34" charset="0"/>
              </a:rPr>
              <a:t>Average loan amount borrowed:</a:t>
            </a:r>
            <a:endParaRPr lang="en-US" sz="24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Partnerships - ~$500,000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Corporation - ~$400,000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Individual - ~$200,000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90" y="330200"/>
            <a:ext cx="11435080" cy="6157595"/>
          </a:xfrm>
        </p:spPr>
        <p:txBody>
          <a:bodyPr/>
          <a:p>
            <a:pPr marL="0" indent="0" algn="ctr">
              <a:buNone/>
            </a:pPr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Trends in Default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Default rates have been increasing with peaks at Q3 and all time highest in 2017 Q3 at ~7%.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After 2017 default rates have dropped significantly with an all time low at ~4.5% at 2019 Q3.</a:t>
            </a:r>
            <a:endParaRPr lang="en-US" sz="200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690" y="800100"/>
            <a:ext cx="6507480" cy="4792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410845"/>
            <a:ext cx="11194415" cy="6064250"/>
          </a:xfrm>
        </p:spPr>
        <p:txBody>
          <a:bodyPr/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with values less than $500,000 have higher default rate (&gt; 4%)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of values $3.5M - $4.5M also show higher default rate (3% - 4%)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" y="274955"/>
            <a:ext cx="10891520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610" y="319405"/>
            <a:ext cx="11332845" cy="6041390"/>
          </a:xfrm>
        </p:spPr>
        <p:txBody>
          <a:bodyPr/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Projects in </a:t>
            </a:r>
            <a:r>
              <a:rPr lang="en-US" sz="2000" b="1">
                <a:latin typeface="Arial Bold" panose="020B0704020202020204" charset="0"/>
                <a:cs typeface="Arial Bold" panose="020B0704020202020204" charset="0"/>
              </a:rPr>
              <a:t>Florida, Texas and South Carolina tend to default</a:t>
            </a:r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 the most (~9.5%, 8.5%, 8% respectively)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Project in Maine, Idhao and Vermont has the lowest default rates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70" y="319405"/>
            <a:ext cx="10220960" cy="4784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395" y="376555"/>
            <a:ext cx="11447145" cy="6076950"/>
          </a:xfrm>
        </p:spPr>
        <p:txBody>
          <a:bodyPr/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with Initial Interest rates higher than 10% shows higher default rate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with 11% initial interest rate has a default rate of 14%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200" y="376555"/>
            <a:ext cx="9486900" cy="521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5" y="376555"/>
            <a:ext cx="11412855" cy="6111875"/>
          </a:xfrm>
        </p:spPr>
        <p:txBody>
          <a:bodyPr/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 b="1">
                <a:latin typeface="Arial Bold" panose="020B0704020202020204" charset="0"/>
                <a:cs typeface="Arial Bold" panose="020B0704020202020204" charset="0"/>
              </a:rPr>
              <a:t>Individual business tends to default </a:t>
            </a:r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the most followed by Corporation and Partnerships.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Individual business has the highest default rate of ~6.5%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0" y="308610"/>
            <a:ext cx="6457950" cy="521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Arial Bold" panose="020B0704020202020204" charset="0"/>
                <a:cs typeface="Arial Bold" panose="020B0704020202020204" charset="0"/>
              </a:rPr>
              <a:t>Key Drivers of Default</a:t>
            </a:r>
            <a:endParaRPr lang="en-US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4240"/>
            <a:ext cx="10515600" cy="2509520"/>
          </a:xfrm>
        </p:spPr>
        <p:txBody>
          <a:bodyPr/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approved in Q3 of a fiscal year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 amounts less than $500,000 or between $3.5M - $4.5M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Projects from the southeast US have higher default rate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Individual business tends to default the most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sz="2000">
                <a:latin typeface="Arial Regular" panose="020B0704020202020204" charset="0"/>
                <a:cs typeface="Arial Regular" panose="020B0704020202020204" charset="0"/>
              </a:rPr>
              <a:t>Loans with interest rate greater than 10% have higher default rates</a:t>
            </a:r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sz="2000">
              <a:latin typeface="Arial Regular" panose="020B0704020202020204" charset="0"/>
              <a:cs typeface="Arial Regular" panose="020B07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3621</Words>
  <Application>WPS Presentation</Application>
  <PresentationFormat>Widescreen</PresentationFormat>
  <Paragraphs>242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Arial Regular</vt:lpstr>
      <vt:lpstr>Brush Script MT</vt:lpstr>
      <vt:lpstr>Arial Italic</vt:lpstr>
      <vt:lpstr>Arial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Model on SBA 7(a) Loan data FY 2014-2019</dc:title>
  <dc:creator>dineshdk</dc:creator>
  <cp:lastModifiedBy>Dinesh Kumar</cp:lastModifiedBy>
  <cp:revision>2</cp:revision>
  <dcterms:created xsi:type="dcterms:W3CDTF">2025-12-24T08:28:07Z</dcterms:created>
  <dcterms:modified xsi:type="dcterms:W3CDTF">2025-12-24T08:28:07Z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1C8C361503E1FE4158694B699117C550_41</vt:lpwstr>
  </property>
  <property fmtid="{D5CDD505-2E9C-101B-9397-08002B2CF9AE}" pid="3" name="KSOProductBuildVer">
    <vt:lpwstr>1033-12.1.21937.21937</vt:lpwstr>
  </property>
</Properties>
</file>